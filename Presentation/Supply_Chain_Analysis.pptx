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BM Plex Mono Bold" charset="1" panose="020B0809050203000203"/>
      <p:regular r:id="rId21"/>
    </p:embeddedFont>
    <p:embeddedFont>
      <p:font typeface="Montserrat Bold" charset="1" panose="00000800000000000000"/>
      <p:regular r:id="rId22"/>
    </p:embeddedFont>
    <p:embeddedFont>
      <p:font typeface="Open Sans" charset="1" panose="00000000000000000000"/>
      <p:regular r:id="rId23"/>
    </p:embeddedFont>
    <p:embeddedFont>
      <p:font typeface="Open Sans Bold" charset="1" panose="00000000000000000000"/>
      <p:regular r:id="rId24"/>
    </p:embeddedFont>
    <p:embeddedFont>
      <p:font typeface="IBM Plex Mono" charset="1" panose="020B0509050203000203"/>
      <p:regular r:id="rId25"/>
    </p:embeddedFont>
    <p:embeddedFont>
      <p:font typeface="Open Sans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5160328"/>
            <a:ext cx="532741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112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Author: Nitin Prasad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743075"/>
            <a:ext cx="12668250" cy="1578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Supply Chain Performance</a:t>
            </a:r>
          </a:p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Inventory Strategy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9150" y="3619500"/>
            <a:ext cx="100012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9BDCFF"/>
                </a:solidFill>
                <a:latin typeface="Open Sans"/>
                <a:ea typeface="Open Sans"/>
                <a:cs typeface="Open Sans"/>
                <a:sym typeface="Open Sans"/>
              </a:rPr>
              <a:t>End-to-End SQL &amp; Power BI Analytics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9150" y="4448175"/>
            <a:ext cx="10001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89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MYSQL   SQL   POWER BI   DAX   ABC–XYZ ANALYSIS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4875" y="6572250"/>
            <a:ext cx="2667000" cy="1190625"/>
            <a:chOff x="0" y="0"/>
            <a:chExt cx="3556000" cy="158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56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542143"/>
                  </a:lnTo>
                  <a:cubicBezTo>
                    <a:pt x="3556000" y="1554172"/>
                    <a:pt x="3551221" y="1565709"/>
                    <a:pt x="3542715" y="1574215"/>
                  </a:cubicBezTo>
                  <a:cubicBezTo>
                    <a:pt x="3534209" y="1582721"/>
                    <a:pt x="3522672" y="1587500"/>
                    <a:pt x="3510643" y="1587500"/>
                  </a:cubicBezTo>
                  <a:lnTo>
                    <a:pt x="45357" y="1587500"/>
                  </a:lnTo>
                  <a:cubicBezTo>
                    <a:pt x="33328" y="1587500"/>
                    <a:pt x="21791" y="1582721"/>
                    <a:pt x="13285" y="1574215"/>
                  </a:cubicBezTo>
                  <a:cubicBezTo>
                    <a:pt x="4779" y="1565709"/>
                    <a:pt x="0" y="1554172"/>
                    <a:pt x="0" y="1542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56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SUPPLIERS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571875" y="7162800"/>
            <a:ext cx="38100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143375" y="6572250"/>
            <a:ext cx="2667000" cy="1190625"/>
            <a:chOff x="0" y="0"/>
            <a:chExt cx="3556000" cy="158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6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542143"/>
                  </a:lnTo>
                  <a:cubicBezTo>
                    <a:pt x="3556000" y="1554172"/>
                    <a:pt x="3551221" y="1565709"/>
                    <a:pt x="3542715" y="1574215"/>
                  </a:cubicBezTo>
                  <a:cubicBezTo>
                    <a:pt x="3534209" y="1582721"/>
                    <a:pt x="3522672" y="1587500"/>
                    <a:pt x="3510643" y="1587500"/>
                  </a:cubicBezTo>
                  <a:lnTo>
                    <a:pt x="45357" y="1587500"/>
                  </a:lnTo>
                  <a:cubicBezTo>
                    <a:pt x="33328" y="1587500"/>
                    <a:pt x="21791" y="1582721"/>
                    <a:pt x="13285" y="1574215"/>
                  </a:cubicBezTo>
                  <a:cubicBezTo>
                    <a:pt x="4779" y="1565709"/>
                    <a:pt x="0" y="1554172"/>
                    <a:pt x="0" y="1542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56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PROCUREMENT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810375" y="7162800"/>
            <a:ext cx="38100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7381875" y="6572250"/>
            <a:ext cx="2667000" cy="1190625"/>
            <a:chOff x="0" y="0"/>
            <a:chExt cx="3556000" cy="1587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6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542143"/>
                  </a:lnTo>
                  <a:cubicBezTo>
                    <a:pt x="3556000" y="1554172"/>
                    <a:pt x="3551221" y="1565709"/>
                    <a:pt x="3542715" y="1574215"/>
                  </a:cubicBezTo>
                  <a:cubicBezTo>
                    <a:pt x="3534209" y="1582721"/>
                    <a:pt x="3522672" y="1587500"/>
                    <a:pt x="3510643" y="1587500"/>
                  </a:cubicBezTo>
                  <a:lnTo>
                    <a:pt x="45357" y="1587500"/>
                  </a:lnTo>
                  <a:cubicBezTo>
                    <a:pt x="33328" y="1587500"/>
                    <a:pt x="21791" y="1582721"/>
                    <a:pt x="13285" y="1574215"/>
                  </a:cubicBezTo>
                  <a:cubicBezTo>
                    <a:pt x="4779" y="1565709"/>
                    <a:pt x="0" y="1554172"/>
                    <a:pt x="0" y="1542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556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WAREHOUSES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048875" y="7162800"/>
            <a:ext cx="38100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620375" y="6572250"/>
            <a:ext cx="2667000" cy="1190625"/>
            <a:chOff x="0" y="0"/>
            <a:chExt cx="3556000" cy="1587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6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542143"/>
                  </a:lnTo>
                  <a:cubicBezTo>
                    <a:pt x="3556000" y="1554172"/>
                    <a:pt x="3551221" y="1565709"/>
                    <a:pt x="3542715" y="1574215"/>
                  </a:cubicBezTo>
                  <a:cubicBezTo>
                    <a:pt x="3534209" y="1582721"/>
                    <a:pt x="3522672" y="1587500"/>
                    <a:pt x="3510643" y="1587500"/>
                  </a:cubicBezTo>
                  <a:lnTo>
                    <a:pt x="45357" y="1587500"/>
                  </a:lnTo>
                  <a:cubicBezTo>
                    <a:pt x="33328" y="1587500"/>
                    <a:pt x="21791" y="1582721"/>
                    <a:pt x="13285" y="1574215"/>
                  </a:cubicBezTo>
                  <a:cubicBezTo>
                    <a:pt x="4779" y="1565709"/>
                    <a:pt x="0" y="1554172"/>
                    <a:pt x="0" y="1542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6324F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556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INVENTORY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3287375" y="7162800"/>
            <a:ext cx="38100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3858875" y="6572250"/>
            <a:ext cx="2667000" cy="1190625"/>
            <a:chOff x="0" y="0"/>
            <a:chExt cx="3556000" cy="1587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56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542143"/>
                  </a:lnTo>
                  <a:cubicBezTo>
                    <a:pt x="3556000" y="1554172"/>
                    <a:pt x="3551221" y="1565709"/>
                    <a:pt x="3542715" y="1574215"/>
                  </a:cubicBezTo>
                  <a:cubicBezTo>
                    <a:pt x="3534209" y="1582721"/>
                    <a:pt x="3522672" y="1587500"/>
                    <a:pt x="3510643" y="1587500"/>
                  </a:cubicBezTo>
                  <a:lnTo>
                    <a:pt x="45357" y="1587500"/>
                  </a:lnTo>
                  <a:cubicBezTo>
                    <a:pt x="33328" y="1587500"/>
                    <a:pt x="21791" y="1582721"/>
                    <a:pt x="13285" y="1574215"/>
                  </a:cubicBezTo>
                  <a:cubicBezTo>
                    <a:pt x="4779" y="1565709"/>
                    <a:pt x="0" y="1554172"/>
                    <a:pt x="0" y="1542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556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CUSTOMERS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19150" y="8562975"/>
            <a:ext cx="952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RAW TRANSACTIONS  →  DECISION SUPPORT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Business Problem &amp; Objectives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/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9150" y="1952625"/>
            <a:ext cx="7810500" cy="6762750"/>
            <a:chOff x="0" y="0"/>
            <a:chExt cx="10414000" cy="9017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414000" cy="9017000"/>
              <a:chOff x="0" y="0"/>
              <a:chExt cx="10414000" cy="9017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414000" cy="9017000"/>
              </a:xfrm>
              <a:custGeom>
                <a:avLst/>
                <a:gdLst/>
                <a:ahLst/>
                <a:cxnLst/>
                <a:rect r="r" b="b" t="t" l="l"/>
                <a:pathLst>
                  <a:path h="9017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9017000"/>
                    </a:lnTo>
                    <a:lnTo>
                      <a:pt x="0" y="9017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414000" cy="905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95300" y="381000"/>
              <a:ext cx="889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  BUSINESS PROBLEM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95300" y="1231900"/>
              <a:ext cx="8890000" cy="307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Supply chain data distributed across sales, procurement, suppliers, inventory and warehouses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Operational inefficiencies are difficult to isolate from raw transactions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Inventory decisions need both product value and demand-stability insight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Management lacks a consolidated decision 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29750" y="1952625"/>
            <a:ext cx="8039100" cy="6762750"/>
            <a:chOff x="0" y="0"/>
            <a:chExt cx="10718800" cy="9017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718800" cy="9017000"/>
              <a:chOff x="0" y="0"/>
              <a:chExt cx="10718800" cy="9017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718800" cy="9017000"/>
              </a:xfrm>
              <a:custGeom>
                <a:avLst/>
                <a:gdLst/>
                <a:ahLst/>
                <a:cxnLst/>
                <a:rect r="r" b="b" t="t" l="l"/>
                <a:pathLst>
                  <a:path h="9017000" w="10718800">
                    <a:moveTo>
                      <a:pt x="0" y="0"/>
                    </a:moveTo>
                    <a:lnTo>
                      <a:pt x="10718800" y="0"/>
                    </a:lnTo>
                    <a:lnTo>
                      <a:pt x="10718800" y="9017000"/>
                    </a:lnTo>
                    <a:lnTo>
                      <a:pt x="0" y="90170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718800" cy="905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4500" y="381000"/>
              <a:ext cx="8890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  OBJECTIVES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44500" y="1231900"/>
              <a:ext cx="8890000" cy="2190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Evaluate end-to-end supply chain performance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Analyze sales, customers, suppliers and procurement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Monitor inventory and warehouse operations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Classify products with ABC-XYZ analysis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Translate segments into differentiated inventory strategies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Dataset &amp; Database Foundation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/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9150" y="1857375"/>
            <a:ext cx="2000250" cy="1238250"/>
            <a:chOff x="0" y="0"/>
            <a:chExt cx="2667000" cy="1651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667000" cy="1651000"/>
              <a:chOff x="0" y="0"/>
              <a:chExt cx="2667000" cy="1651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67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667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254000"/>
              <a:ext cx="266700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99,470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RECORDS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67050" y="1857375"/>
            <a:ext cx="2000250" cy="1238250"/>
            <a:chOff x="0" y="0"/>
            <a:chExt cx="2667000" cy="1651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667000" cy="1651000"/>
              <a:chOff x="0" y="0"/>
              <a:chExt cx="2667000" cy="1651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667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667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254000"/>
              <a:ext cx="266700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TABLES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14950" y="1857375"/>
            <a:ext cx="2000250" cy="1238250"/>
            <a:chOff x="0" y="0"/>
            <a:chExt cx="2667000" cy="1651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667000" cy="1651000"/>
              <a:chOff x="0" y="0"/>
              <a:chExt cx="2667000" cy="1651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667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667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254000"/>
              <a:ext cx="266700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500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PRODUCTS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62850" y="1857375"/>
            <a:ext cx="2000250" cy="1238250"/>
            <a:chOff x="0" y="0"/>
            <a:chExt cx="2667000" cy="1651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667000" cy="1651000"/>
              <a:chOff x="0" y="0"/>
              <a:chExt cx="2667000" cy="1651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667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667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254000"/>
              <a:ext cx="266700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120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SUPPLIERS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10750" y="1857375"/>
            <a:ext cx="2000250" cy="1238250"/>
            <a:chOff x="0" y="0"/>
            <a:chExt cx="2667000" cy="1651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667000" cy="1651000"/>
              <a:chOff x="0" y="0"/>
              <a:chExt cx="2667000" cy="1651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667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667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254000"/>
              <a:ext cx="266700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800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CUSTOMERS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3000" y="4905375"/>
            <a:ext cx="2381250" cy="876300"/>
            <a:chOff x="0" y="0"/>
            <a:chExt cx="3175000" cy="116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7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117600"/>
                  </a:lnTo>
                  <a:cubicBezTo>
                    <a:pt x="3175000" y="1145656"/>
                    <a:pt x="3152256" y="1168400"/>
                    <a:pt x="3124200" y="1168400"/>
                  </a:cubicBezTo>
                  <a:lnTo>
                    <a:pt x="50800" y="1168400"/>
                  </a:lnTo>
                  <a:cubicBezTo>
                    <a:pt x="22744" y="1168400"/>
                    <a:pt x="0" y="1145656"/>
                    <a:pt x="0" y="1117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7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Customers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3000" y="6667500"/>
            <a:ext cx="2381250" cy="876300"/>
            <a:chOff x="0" y="0"/>
            <a:chExt cx="3175000" cy="1168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7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117600"/>
                  </a:lnTo>
                  <a:cubicBezTo>
                    <a:pt x="3175000" y="1145656"/>
                    <a:pt x="3152256" y="1168400"/>
                    <a:pt x="3124200" y="1168400"/>
                  </a:cubicBezTo>
                  <a:lnTo>
                    <a:pt x="50800" y="1168400"/>
                  </a:lnTo>
                  <a:cubicBezTo>
                    <a:pt x="22744" y="1168400"/>
                    <a:pt x="0" y="1145656"/>
                    <a:pt x="0" y="1117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17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Suppliers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905500" y="4905375"/>
            <a:ext cx="2857500" cy="876300"/>
            <a:chOff x="0" y="0"/>
            <a:chExt cx="3810000" cy="1168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10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3810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26067"/>
                  </a:lnTo>
                  <a:cubicBezTo>
                    <a:pt x="3810000" y="1137294"/>
                    <a:pt x="3805540" y="1148062"/>
                    <a:pt x="3797601" y="1156001"/>
                  </a:cubicBezTo>
                  <a:cubicBezTo>
                    <a:pt x="3789662" y="1163940"/>
                    <a:pt x="3778894" y="1168400"/>
                    <a:pt x="3767667" y="1168400"/>
                  </a:cubicBezTo>
                  <a:lnTo>
                    <a:pt x="42333" y="1168400"/>
                  </a:lnTo>
                  <a:cubicBezTo>
                    <a:pt x="31106" y="1168400"/>
                    <a:pt x="20338" y="1163940"/>
                    <a:pt x="12399" y="1156001"/>
                  </a:cubicBezTo>
                  <a:cubicBezTo>
                    <a:pt x="4460" y="1148062"/>
                    <a:pt x="0" y="1137294"/>
                    <a:pt x="0" y="11260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810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Sales Orders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905500" y="6667500"/>
            <a:ext cx="2857500" cy="876300"/>
            <a:chOff x="0" y="0"/>
            <a:chExt cx="3810000" cy="1168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10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3810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26067"/>
                  </a:lnTo>
                  <a:cubicBezTo>
                    <a:pt x="3810000" y="1137294"/>
                    <a:pt x="3805540" y="1148062"/>
                    <a:pt x="3797601" y="1156001"/>
                  </a:cubicBezTo>
                  <a:cubicBezTo>
                    <a:pt x="3789662" y="1163940"/>
                    <a:pt x="3778894" y="1168400"/>
                    <a:pt x="3767667" y="1168400"/>
                  </a:cubicBezTo>
                  <a:lnTo>
                    <a:pt x="42333" y="1168400"/>
                  </a:lnTo>
                  <a:cubicBezTo>
                    <a:pt x="31106" y="1168400"/>
                    <a:pt x="20338" y="1163940"/>
                    <a:pt x="12399" y="1156001"/>
                  </a:cubicBezTo>
                  <a:cubicBezTo>
                    <a:pt x="4460" y="1148062"/>
                    <a:pt x="0" y="1137294"/>
                    <a:pt x="0" y="11260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810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Purchase Orders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87000" y="5781675"/>
            <a:ext cx="2381250" cy="876300"/>
            <a:chOff x="0" y="0"/>
            <a:chExt cx="3175000" cy="116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7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117600"/>
                  </a:lnTo>
                  <a:cubicBezTo>
                    <a:pt x="3175000" y="1145656"/>
                    <a:pt x="3152256" y="1168400"/>
                    <a:pt x="3124200" y="1168400"/>
                  </a:cubicBezTo>
                  <a:lnTo>
                    <a:pt x="50800" y="1168400"/>
                  </a:lnTo>
                  <a:cubicBezTo>
                    <a:pt x="22744" y="1168400"/>
                    <a:pt x="0" y="1145656"/>
                    <a:pt x="0" y="1117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17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Products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382750" y="4905375"/>
            <a:ext cx="2381250" cy="876300"/>
            <a:chOff x="0" y="0"/>
            <a:chExt cx="3175000" cy="1168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7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117600"/>
                  </a:lnTo>
                  <a:cubicBezTo>
                    <a:pt x="3175000" y="1145656"/>
                    <a:pt x="3152256" y="1168400"/>
                    <a:pt x="3124200" y="1168400"/>
                  </a:cubicBezTo>
                  <a:lnTo>
                    <a:pt x="50800" y="1168400"/>
                  </a:lnTo>
                  <a:cubicBezTo>
                    <a:pt x="22744" y="1168400"/>
                    <a:pt x="0" y="1145656"/>
                    <a:pt x="0" y="1117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17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Inventory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382750" y="6667500"/>
            <a:ext cx="2381250" cy="876300"/>
            <a:chOff x="0" y="0"/>
            <a:chExt cx="3175000" cy="1168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75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117600"/>
                  </a:lnTo>
                  <a:cubicBezTo>
                    <a:pt x="3175000" y="1145656"/>
                    <a:pt x="3152256" y="1168400"/>
                    <a:pt x="3124200" y="1168400"/>
                  </a:cubicBezTo>
                  <a:lnTo>
                    <a:pt x="50800" y="1168400"/>
                  </a:lnTo>
                  <a:cubicBezTo>
                    <a:pt x="22744" y="1168400"/>
                    <a:pt x="0" y="1145656"/>
                    <a:pt x="0" y="1117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175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Warehouses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>
            <a:off x="3524250" y="5343525"/>
            <a:ext cx="2381250" cy="0"/>
          </a:xfrm>
          <a:prstGeom prst="line">
            <a:avLst/>
          </a:prstGeom>
          <a:ln cap="flat" w="1905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3524250" y="7105650"/>
            <a:ext cx="2381250" cy="0"/>
          </a:xfrm>
          <a:prstGeom prst="line">
            <a:avLst/>
          </a:prstGeom>
          <a:ln cap="flat" w="1905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8763000" y="5343525"/>
            <a:ext cx="1524000" cy="752475"/>
          </a:xfrm>
          <a:prstGeom prst="line">
            <a:avLst/>
          </a:prstGeom>
          <a:ln cap="flat" w="1905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8763000" y="6343650"/>
            <a:ext cx="1524000" cy="762000"/>
          </a:xfrm>
          <a:prstGeom prst="line">
            <a:avLst/>
          </a:prstGeom>
          <a:ln cap="flat" w="1905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flipV="true">
            <a:off x="12668250" y="5343525"/>
            <a:ext cx="1714500" cy="876300"/>
          </a:xfrm>
          <a:prstGeom prst="line">
            <a:avLst/>
          </a:prstGeom>
          <a:ln cap="flat" w="1905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12668250" y="6219825"/>
            <a:ext cx="1714500" cy="885825"/>
          </a:xfrm>
          <a:prstGeom prst="line">
            <a:avLst/>
          </a:prstGeom>
          <a:ln cap="flat" w="1905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819150" y="3686175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9BDCFF"/>
                </a:solidFill>
                <a:latin typeface="IBM Plex Mono"/>
                <a:ea typeface="IBM Plex Mono"/>
                <a:cs typeface="IBM Plex Mono"/>
                <a:sym typeface="IBM Plex Mono"/>
              </a:rPr>
              <a:t>Jan 2024 – Aug 2026  •  35,000 purchase orders  •  58,000 sales orders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19150" y="8924925"/>
            <a:ext cx="1333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i="true">
                <a:solidFill>
                  <a:srgbClr val="A9BAD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Dataset generated using Google Gemini for project simulation and analytical practice.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Raw Data to Business Insights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/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9150" y="2190750"/>
            <a:ext cx="3762375" cy="1571625"/>
            <a:chOff x="0" y="0"/>
            <a:chExt cx="5016500" cy="20955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Raw CSV Data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0150" y="2190750"/>
            <a:ext cx="3762375" cy="1571625"/>
            <a:chOff x="0" y="0"/>
            <a:chExt cx="5016500" cy="2095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Database &amp; Tables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01150" y="2190750"/>
            <a:ext cx="3762375" cy="1571625"/>
            <a:chOff x="0" y="0"/>
            <a:chExt cx="5016500" cy="2095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Ingestion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392150" y="2190750"/>
            <a:ext cx="3762375" cy="1571625"/>
            <a:chOff x="0" y="0"/>
            <a:chExt cx="5016500" cy="2095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Cleaning &amp; Validation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9150" y="4333875"/>
            <a:ext cx="3762375" cy="1571625"/>
            <a:chOff x="0" y="0"/>
            <a:chExt cx="5016500" cy="20955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Relationships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010150" y="4333875"/>
            <a:ext cx="3762375" cy="1571625"/>
            <a:chOff x="0" y="0"/>
            <a:chExt cx="5016500" cy="20955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 Analysis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01150" y="4333875"/>
            <a:ext cx="3762375" cy="1571625"/>
            <a:chOff x="0" y="0"/>
            <a:chExt cx="5016500" cy="20955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ABC Analysis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392150" y="4333875"/>
            <a:ext cx="3762375" cy="1571625"/>
            <a:chOff x="0" y="0"/>
            <a:chExt cx="5016500" cy="20955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XYZ Analysis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19150" y="6477000"/>
            <a:ext cx="3762375" cy="1571625"/>
            <a:chOff x="0" y="0"/>
            <a:chExt cx="5016500" cy="209550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ABC-XYZ Segment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010150" y="6477000"/>
            <a:ext cx="3762375" cy="1571625"/>
            <a:chOff x="0" y="0"/>
            <a:chExt cx="5016500" cy="209550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16324F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Power BI Model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01150" y="6477000"/>
            <a:ext cx="3762375" cy="1571625"/>
            <a:chOff x="0" y="0"/>
            <a:chExt cx="5016500" cy="2095500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16324F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Interactive Reports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392150" y="6477000"/>
            <a:ext cx="3762375" cy="1571625"/>
            <a:chOff x="0" y="0"/>
            <a:chExt cx="5016500" cy="2095500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5016500" cy="2095500"/>
              <a:chOff x="0" y="0"/>
              <a:chExt cx="5016500" cy="20955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50165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50165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16324F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50165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304800" y="2413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12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304800" y="860425"/>
              <a:ext cx="4318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Strategies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4953000" y="8839200"/>
            <a:ext cx="838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RAW DATA  →  ANALYSIS  →  DECISION SUPPORT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Preparation &amp; SQL Foundation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/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9150" y="1905000"/>
            <a:ext cx="7810500" cy="4953000"/>
            <a:chOff x="0" y="0"/>
            <a:chExt cx="10414000" cy="6604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414000" cy="6604000"/>
              <a:chOff x="0" y="0"/>
              <a:chExt cx="10414000" cy="6604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414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414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95300" y="3175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CLEANING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95300" y="1168400"/>
              <a:ext cx="8255000" cy="2635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Text standardization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NULL / missing-value handling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Duplicate treatment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Outlier analysis &amp; treatment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Data validation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Referential integrity checks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29750" y="1905000"/>
            <a:ext cx="8039100" cy="4953000"/>
            <a:chOff x="0" y="0"/>
            <a:chExt cx="10718800" cy="660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718800" cy="6604000"/>
              <a:chOff x="0" y="0"/>
              <a:chExt cx="10718800" cy="660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7188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10718800">
                    <a:moveTo>
                      <a:pt x="0" y="0"/>
                    </a:moveTo>
                    <a:lnTo>
                      <a:pt x="10718800" y="0"/>
                    </a:lnTo>
                    <a:lnTo>
                      <a:pt x="107188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7188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4500" y="3175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FOUNDATION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44500" y="1168400"/>
              <a:ext cx="8255000" cy="2635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Primary &amp; Foreign Keys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JOINs, CTEs &amp; subqueries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Window Functions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CASE Statements &amp; aggregations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Date Functions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Analytical Views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86000" y="7620000"/>
            <a:ext cx="3238500" cy="1000125"/>
            <a:chOff x="0" y="0"/>
            <a:chExt cx="4318000" cy="1333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18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296147"/>
                  </a:lnTo>
                  <a:cubicBezTo>
                    <a:pt x="4318000" y="1306054"/>
                    <a:pt x="4314065" y="1315555"/>
                    <a:pt x="4307060" y="1322560"/>
                  </a:cubicBezTo>
                  <a:cubicBezTo>
                    <a:pt x="4300055" y="1329565"/>
                    <a:pt x="4290554" y="1333500"/>
                    <a:pt x="4280647" y="1333500"/>
                  </a:cubicBezTo>
                  <a:lnTo>
                    <a:pt x="37353" y="1333500"/>
                  </a:lnTo>
                  <a:cubicBezTo>
                    <a:pt x="27446" y="1333500"/>
                    <a:pt x="17945" y="1329565"/>
                    <a:pt x="10940" y="1322560"/>
                  </a:cubicBezTo>
                  <a:cubicBezTo>
                    <a:pt x="3935" y="1315555"/>
                    <a:pt x="0" y="1306054"/>
                    <a:pt x="0" y="12961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318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RAW DATA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524500" y="8115300"/>
            <a:ext cx="171450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7524750" y="7620000"/>
            <a:ext cx="3238500" cy="1000125"/>
            <a:chOff x="0" y="0"/>
            <a:chExt cx="4318000" cy="1333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18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296147"/>
                  </a:lnTo>
                  <a:cubicBezTo>
                    <a:pt x="4318000" y="1306054"/>
                    <a:pt x="4314065" y="1315555"/>
                    <a:pt x="4307060" y="1322560"/>
                  </a:cubicBezTo>
                  <a:cubicBezTo>
                    <a:pt x="4300055" y="1329565"/>
                    <a:pt x="4290554" y="1333500"/>
                    <a:pt x="4280647" y="1333500"/>
                  </a:cubicBezTo>
                  <a:lnTo>
                    <a:pt x="37353" y="1333500"/>
                  </a:lnTo>
                  <a:cubicBezTo>
                    <a:pt x="27446" y="1333500"/>
                    <a:pt x="17945" y="1329565"/>
                    <a:pt x="10940" y="1322560"/>
                  </a:cubicBezTo>
                  <a:cubicBezTo>
                    <a:pt x="3935" y="1315555"/>
                    <a:pt x="0" y="1306054"/>
                    <a:pt x="0" y="12961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18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CLEAN DATA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0763250" y="8115300"/>
            <a:ext cx="171450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2763500" y="7620000"/>
            <a:ext cx="3238500" cy="1000125"/>
            <a:chOff x="0" y="0"/>
            <a:chExt cx="4318000" cy="1333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18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296147"/>
                  </a:lnTo>
                  <a:cubicBezTo>
                    <a:pt x="4318000" y="1306054"/>
                    <a:pt x="4314065" y="1315555"/>
                    <a:pt x="4307060" y="1322560"/>
                  </a:cubicBezTo>
                  <a:cubicBezTo>
                    <a:pt x="4300055" y="1329565"/>
                    <a:pt x="4290554" y="1333500"/>
                    <a:pt x="4280647" y="1333500"/>
                  </a:cubicBezTo>
                  <a:lnTo>
                    <a:pt x="37353" y="1333500"/>
                  </a:lnTo>
                  <a:cubicBezTo>
                    <a:pt x="27446" y="1333500"/>
                    <a:pt x="17945" y="1329565"/>
                    <a:pt x="10940" y="1322560"/>
                  </a:cubicBezTo>
                  <a:cubicBezTo>
                    <a:pt x="3935" y="1315555"/>
                    <a:pt x="0" y="1306054"/>
                    <a:pt x="0" y="12961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16324F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318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RELATIONAL DATA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Analysis Framework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/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9150" y="1952625"/>
            <a:ext cx="4953000" cy="5667375"/>
            <a:chOff x="0" y="0"/>
            <a:chExt cx="6604000" cy="75565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604000" cy="7556500"/>
              <a:chOff x="0" y="0"/>
              <a:chExt cx="6604000" cy="7556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604000" cy="7556500"/>
              </a:xfrm>
              <a:custGeom>
                <a:avLst/>
                <a:gdLst/>
                <a:ahLst/>
                <a:cxnLst/>
                <a:rect r="r" b="b" t="t" l="l"/>
                <a:pathLst>
                  <a:path h="7556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556500"/>
                    </a:lnTo>
                    <a:lnTo>
                      <a:pt x="0" y="7556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604000" cy="759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44500" y="508000"/>
              <a:ext cx="571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GENERAL SUPPLY CHAIN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44500" y="1612900"/>
              <a:ext cx="5715000" cy="174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Sales &amp; Customer Analysis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Supplier &amp; Procurement Analysis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Inventory Analysis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Warehouse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0" y="1952625"/>
            <a:ext cx="4953000" cy="5667375"/>
            <a:chOff x="0" y="0"/>
            <a:chExt cx="6604000" cy="7556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04000" cy="7556500"/>
              <a:chOff x="0" y="0"/>
              <a:chExt cx="6604000" cy="7556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04000" cy="7556500"/>
              </a:xfrm>
              <a:custGeom>
                <a:avLst/>
                <a:gdLst/>
                <a:ahLst/>
                <a:cxnLst/>
                <a:rect r="r" b="b" t="t" l="l"/>
                <a:pathLst>
                  <a:path h="7556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556500"/>
                    </a:lnTo>
                    <a:lnTo>
                      <a:pt x="0" y="75565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604000" cy="759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4500" y="508000"/>
              <a:ext cx="571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ADVANCED PRODUCT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44500" y="1612900"/>
              <a:ext cx="5715000" cy="1301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ABC Classification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XYZ Demand Variability</a:t>
              </a:r>
            </a:p>
            <a:p>
              <a:pPr algn="l">
                <a:lnSpc>
                  <a:spcPts val="2662"/>
                </a:lnSpc>
              </a:pPr>
              <a:r>
                <a:rPr lang="en-US" sz="1875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Combined ABC-XYZ Segmentation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15850" y="1952625"/>
            <a:ext cx="4953000" cy="5667375"/>
            <a:chOff x="0" y="0"/>
            <a:chExt cx="6604000" cy="7556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604000" cy="7556500"/>
              <a:chOff x="0" y="0"/>
              <a:chExt cx="6604000" cy="7556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04000" cy="7556500"/>
              </a:xfrm>
              <a:custGeom>
                <a:avLst/>
                <a:gdLst/>
                <a:ahLst/>
                <a:cxnLst/>
                <a:rect r="r" b="b" t="t" l="l"/>
                <a:pathLst>
                  <a:path h="7556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556500"/>
                    </a:lnTo>
                    <a:lnTo>
                      <a:pt x="0" y="7556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604000" cy="759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44500" y="508000"/>
              <a:ext cx="571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 OUTPUTS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44500" y="1631950"/>
              <a:ext cx="5715000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DC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• vw_product_sales_summary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DC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• vw_monthly_product_demand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DC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• vw_abc_xyz_classification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381250" y="8286750"/>
            <a:ext cx="13525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transformed transactional data into analytical datasets and business insights.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ABC-XYZ: From Product Value to Inventory Strategy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/ 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9150" y="2047875"/>
            <a:ext cx="4762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9BD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ABC  •  PRODUCT VALUE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9150" y="2628900"/>
            <a:ext cx="4000500" cy="98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A  High Value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B  Medium Value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C  Low Value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9150" y="4953000"/>
            <a:ext cx="4953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9BD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XYZ  •  DEMAND VARIABILITY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150" y="5534025"/>
            <a:ext cx="4572000" cy="98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X  Stable / Predictable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Y  Moderately Variable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Z  Highly Variable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0" y="2333625"/>
            <a:ext cx="2667000" cy="1381125"/>
            <a:chOff x="0" y="0"/>
            <a:chExt cx="3556000" cy="1841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6324F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AX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01250" y="2333625"/>
            <a:ext cx="2667000" cy="1381125"/>
            <a:chOff x="0" y="0"/>
            <a:chExt cx="3556000" cy="1841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6324F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144500" y="2333625"/>
            <a:ext cx="2667000" cy="1381125"/>
            <a:chOff x="0" y="0"/>
            <a:chExt cx="3556000" cy="1841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6324F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AZ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0" y="4095750"/>
            <a:ext cx="2667000" cy="1381125"/>
            <a:chOff x="0" y="0"/>
            <a:chExt cx="3556000" cy="1841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BX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01250" y="4095750"/>
            <a:ext cx="2667000" cy="1381125"/>
            <a:chOff x="0" y="0"/>
            <a:chExt cx="3556000" cy="1841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44500" y="4095750"/>
            <a:ext cx="2667000" cy="1381125"/>
            <a:chOff x="0" y="0"/>
            <a:chExt cx="3556000" cy="1841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102642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BZ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0" y="5857875"/>
            <a:ext cx="2667000" cy="1381125"/>
            <a:chOff x="0" y="0"/>
            <a:chExt cx="3556000" cy="1841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CX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01250" y="5857875"/>
            <a:ext cx="2667000" cy="1381125"/>
            <a:chOff x="0" y="0"/>
            <a:chExt cx="3556000" cy="1841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144500" y="5857875"/>
            <a:ext cx="2667000" cy="1381125"/>
            <a:chOff x="0" y="0"/>
            <a:chExt cx="3556000" cy="1841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56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796143"/>
                  </a:lnTo>
                  <a:cubicBezTo>
                    <a:pt x="3556000" y="1808172"/>
                    <a:pt x="3551221" y="1819709"/>
                    <a:pt x="3542715" y="1828215"/>
                  </a:cubicBezTo>
                  <a:cubicBezTo>
                    <a:pt x="3534209" y="1836721"/>
                    <a:pt x="3522672" y="1841500"/>
                    <a:pt x="3510643" y="1841500"/>
                  </a:cubicBezTo>
                  <a:lnTo>
                    <a:pt x="45357" y="1841500"/>
                  </a:lnTo>
                  <a:cubicBezTo>
                    <a:pt x="33328" y="1841500"/>
                    <a:pt x="21791" y="1836721"/>
                    <a:pt x="13285" y="1828215"/>
                  </a:cubicBezTo>
                  <a:cubicBezTo>
                    <a:pt x="4779" y="1819709"/>
                    <a:pt x="0" y="1808172"/>
                    <a:pt x="0" y="17961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556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CZ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381750" y="8343900"/>
            <a:ext cx="1000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22D3E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VALUE  +  DEMAND STABILITY  →  INVENTORY STRATEGY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SQL Analysis to Power BI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2857500"/>
            <a:ext cx="2381250" cy="1428750"/>
            <a:chOff x="0" y="0"/>
            <a:chExt cx="31750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854200"/>
                  </a:lnTo>
                  <a:cubicBezTo>
                    <a:pt x="3175000" y="1882256"/>
                    <a:pt x="3152256" y="1905000"/>
                    <a:pt x="3124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MySQL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Tables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048000" y="3571875"/>
            <a:ext cx="428625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619500" y="2857500"/>
            <a:ext cx="2381250" cy="1428750"/>
            <a:chOff x="0" y="0"/>
            <a:chExt cx="3175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854200"/>
                  </a:lnTo>
                  <a:cubicBezTo>
                    <a:pt x="3175000" y="1882256"/>
                    <a:pt x="3152256" y="1905000"/>
                    <a:pt x="3124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 Analytical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Views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6000750" y="3571875"/>
            <a:ext cx="428625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6572250" y="2857500"/>
            <a:ext cx="2381250" cy="1428750"/>
            <a:chOff x="0" y="0"/>
            <a:chExt cx="3175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854200"/>
                  </a:lnTo>
                  <a:cubicBezTo>
                    <a:pt x="3175000" y="1882256"/>
                    <a:pt x="3152256" y="1905000"/>
                    <a:pt x="3124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Power BI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Model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953500" y="3571875"/>
            <a:ext cx="428625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525000" y="2857500"/>
            <a:ext cx="2381250" cy="1428750"/>
            <a:chOff x="0" y="0"/>
            <a:chExt cx="31750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854200"/>
                  </a:lnTo>
                  <a:cubicBezTo>
                    <a:pt x="3175000" y="1882256"/>
                    <a:pt x="3152256" y="1905000"/>
                    <a:pt x="3124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D2139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DAX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Measures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1906250" y="3571875"/>
            <a:ext cx="428625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477750" y="2857500"/>
            <a:ext cx="2381250" cy="1428750"/>
            <a:chOff x="0" y="0"/>
            <a:chExt cx="3175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854200"/>
                  </a:lnTo>
                  <a:cubicBezTo>
                    <a:pt x="3175000" y="1882256"/>
                    <a:pt x="3152256" y="1905000"/>
                    <a:pt x="3124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6324F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Interactive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Reports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4859000" y="3571875"/>
            <a:ext cx="428625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5430500" y="2857500"/>
            <a:ext cx="2381250" cy="1428750"/>
            <a:chOff x="0" y="0"/>
            <a:chExt cx="3175000" cy="190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854200"/>
                  </a:lnTo>
                  <a:cubicBezTo>
                    <a:pt x="3175000" y="1882256"/>
                    <a:pt x="3152256" y="1905000"/>
                    <a:pt x="3124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6324F"/>
            </a:solidFill>
            <a:ln w="19050" cap="sq">
              <a:solidFill>
                <a:srgbClr val="2684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17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Business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Insights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19150" y="5476875"/>
            <a:ext cx="4762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9BD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HIGHLIGHTS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9150" y="6105525"/>
            <a:ext cx="11430000" cy="165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• Centralized Dates table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• Transactional + master relationships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• DAX measures for KPIs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• Interactive slicers and cross-filtering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A9BAD0"/>
                </a:solidFill>
                <a:latin typeface="Open Sans"/>
                <a:ea typeface="Open Sans"/>
                <a:cs typeface="Open Sans"/>
                <a:sym typeface="Open Sans"/>
              </a:rPr>
              <a:t>• Top-N analysis and report navigation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573000" y="5810250"/>
            <a:ext cx="4667250" cy="1428750"/>
            <a:chOff x="0" y="0"/>
            <a:chExt cx="6223000" cy="1905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223000" cy="1905000"/>
              <a:chOff x="0" y="0"/>
              <a:chExt cx="6223000" cy="1905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223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6223000">
                    <a:moveTo>
                      <a:pt x="0" y="0"/>
                    </a:moveTo>
                    <a:lnTo>
                      <a:pt x="6223000" y="0"/>
                    </a:lnTo>
                    <a:lnTo>
                      <a:pt x="622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223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81000" y="615950"/>
              <a:ext cx="5461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5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CONNECTED  •  REUSABLE  •  DECISION-READY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POWER BI REPORT  •  INTERACTIVE ANALYTICS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Report 01 — Supply Chain Overview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218598" y="1952625"/>
            <a:ext cx="4250252" cy="7198007"/>
            <a:chOff x="0" y="0"/>
            <a:chExt cx="5667003" cy="959734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667003" cy="9597343"/>
              <a:chOff x="0" y="0"/>
              <a:chExt cx="5511800" cy="9334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11800" cy="9334500"/>
              </a:xfrm>
              <a:custGeom>
                <a:avLst/>
                <a:gdLst/>
                <a:ahLst/>
                <a:cxnLst/>
                <a:rect r="r" b="b" t="t" l="l"/>
                <a:pathLst>
                  <a:path h="9334500" w="5511800">
                    <a:moveTo>
                      <a:pt x="0" y="0"/>
                    </a:moveTo>
                    <a:lnTo>
                      <a:pt x="5511800" y="0"/>
                    </a:lnTo>
                    <a:lnTo>
                      <a:pt x="5511800" y="9334500"/>
                    </a:lnTo>
                    <a:lnTo>
                      <a:pt x="0" y="9334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511800" cy="937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91728" y="232577"/>
              <a:ext cx="5092468" cy="308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43"/>
                </a:lnSpc>
              </a:pPr>
              <a:r>
                <a:rPr lang="en-US" sz="1388" spc="111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REPORT PURPOSE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91728" y="894983"/>
              <a:ext cx="5092468" cy="2447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82"/>
                </a:lnSpc>
              </a:pPr>
              <a:r>
                <a:rPr lang="en-US" sz="154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Executive view of supply chain performance</a:t>
              </a:r>
            </a:p>
            <a:p>
              <a:pPr algn="l">
                <a:lnSpc>
                  <a:spcPts val="2082"/>
                </a:lnSpc>
              </a:pPr>
              <a:r>
                <a:rPr lang="en-US" sz="154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Monitor sales, procurement and inventory KPIs</a:t>
              </a:r>
            </a:p>
            <a:p>
              <a:pPr algn="l">
                <a:lnSpc>
                  <a:spcPts val="2082"/>
                </a:lnSpc>
              </a:pPr>
              <a:r>
                <a:rPr lang="en-US" sz="154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Track sales trends and warehouse stock</a:t>
              </a:r>
            </a:p>
            <a:p>
              <a:pPr algn="l">
                <a:lnSpc>
                  <a:spcPts val="2082"/>
                </a:lnSpc>
              </a:pPr>
              <a:r>
                <a:rPr lang="en-US" sz="154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Monitor supplier performance</a:t>
              </a:r>
            </a:p>
            <a:p>
              <a:pPr algn="l">
                <a:lnSpc>
                  <a:spcPts val="2082"/>
                </a:lnSpc>
              </a:pPr>
              <a:r>
                <a:rPr lang="en-US" sz="154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High-level ABC-XYZ visibility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19150" y="1952625"/>
            <a:ext cx="12108524" cy="7198007"/>
          </a:xfrm>
          <a:custGeom>
            <a:avLst/>
            <a:gdLst/>
            <a:ahLst/>
            <a:cxnLst/>
            <a:rect r="r" b="b" t="t" l="l"/>
            <a:pathLst>
              <a:path h="7198007" w="12108524">
                <a:moveTo>
                  <a:pt x="0" y="0"/>
                </a:moveTo>
                <a:lnTo>
                  <a:pt x="12108524" y="0"/>
                </a:lnTo>
                <a:lnTo>
                  <a:pt x="12108524" y="7198007"/>
                </a:lnTo>
                <a:lnTo>
                  <a:pt x="0" y="7198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POWER BI REPORT  •  INTERACTIVE ANALYTICS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Report 02 — Sales &amp; Customer Analysis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224470" y="1952625"/>
            <a:ext cx="4244380" cy="7188062"/>
            <a:chOff x="0" y="0"/>
            <a:chExt cx="5659173" cy="958408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659173" cy="9584083"/>
              <a:chOff x="0" y="0"/>
              <a:chExt cx="5511800" cy="9334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11800" cy="9334500"/>
              </a:xfrm>
              <a:custGeom>
                <a:avLst/>
                <a:gdLst/>
                <a:ahLst/>
                <a:cxnLst/>
                <a:rect r="r" b="b" t="t" l="l"/>
                <a:pathLst>
                  <a:path h="9334500" w="5511800">
                    <a:moveTo>
                      <a:pt x="0" y="0"/>
                    </a:moveTo>
                    <a:lnTo>
                      <a:pt x="5511800" y="0"/>
                    </a:lnTo>
                    <a:lnTo>
                      <a:pt x="5511800" y="9334500"/>
                    </a:lnTo>
                    <a:lnTo>
                      <a:pt x="0" y="9334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511800" cy="937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91187" y="232216"/>
              <a:ext cx="5085432" cy="307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40"/>
                </a:lnSpc>
              </a:pPr>
              <a:r>
                <a:rPr lang="en-US" sz="1386" spc="11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REPORT PURPOSE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91187" y="893720"/>
              <a:ext cx="5085432" cy="2092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4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Evaluate sales performance over time</a:t>
              </a:r>
            </a:p>
            <a:p>
              <a:pPr algn="l">
                <a:lnSpc>
                  <a:spcPts val="2079"/>
                </a:lnSpc>
              </a:pPr>
              <a:r>
                <a:rPr lang="en-US" sz="154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Identify high-performing products</a:t>
              </a:r>
            </a:p>
            <a:p>
              <a:pPr algn="l">
                <a:lnSpc>
                  <a:spcPts val="2079"/>
                </a:lnSpc>
              </a:pPr>
              <a:r>
                <a:rPr lang="en-US" sz="154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Analyze customer purchasing behavior</a:t>
              </a:r>
            </a:p>
            <a:p>
              <a:pPr algn="l">
                <a:lnSpc>
                  <a:spcPts val="2079"/>
                </a:lnSpc>
              </a:pPr>
              <a:r>
                <a:rPr lang="en-US" sz="154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Compare customer types and geographies</a:t>
              </a:r>
            </a:p>
            <a:p>
              <a:pPr algn="l">
                <a:lnSpc>
                  <a:spcPts val="2079"/>
                </a:lnSpc>
              </a:pPr>
              <a:r>
                <a:rPr lang="en-US" sz="154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Identify high-value customers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19150" y="1952625"/>
            <a:ext cx="12138247" cy="7188062"/>
          </a:xfrm>
          <a:custGeom>
            <a:avLst/>
            <a:gdLst/>
            <a:ahLst/>
            <a:cxnLst/>
            <a:rect r="r" b="b" t="t" l="l"/>
            <a:pathLst>
              <a:path h="7188062" w="12138247">
                <a:moveTo>
                  <a:pt x="0" y="0"/>
                </a:moveTo>
                <a:lnTo>
                  <a:pt x="12138247" y="0"/>
                </a:lnTo>
                <a:lnTo>
                  <a:pt x="12138247" y="7188062"/>
                </a:lnTo>
                <a:lnTo>
                  <a:pt x="0" y="718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POWER BI REPORT  •  INTERACTIVE ANALYTICS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Report 03 — Supplier &amp; Procurement Performance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244142" y="1942689"/>
            <a:ext cx="4224708" cy="7154747"/>
            <a:chOff x="0" y="0"/>
            <a:chExt cx="5632944" cy="953966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632944" cy="9539663"/>
              <a:chOff x="0" y="0"/>
              <a:chExt cx="5511800" cy="9334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11800" cy="9334500"/>
              </a:xfrm>
              <a:custGeom>
                <a:avLst/>
                <a:gdLst/>
                <a:ahLst/>
                <a:cxnLst/>
                <a:rect r="r" b="b" t="t" l="l"/>
                <a:pathLst>
                  <a:path h="9334500" w="5511800">
                    <a:moveTo>
                      <a:pt x="0" y="0"/>
                    </a:moveTo>
                    <a:lnTo>
                      <a:pt x="5511800" y="0"/>
                    </a:lnTo>
                    <a:lnTo>
                      <a:pt x="5511800" y="9334500"/>
                    </a:lnTo>
                    <a:lnTo>
                      <a:pt x="0" y="9334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511800" cy="937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89374" y="231008"/>
              <a:ext cx="5061862" cy="306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1"/>
                </a:lnSpc>
              </a:pPr>
              <a:r>
                <a:rPr lang="en-US" sz="1379" spc="11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REPORT PURPOSE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9374" y="889489"/>
              <a:ext cx="5061862" cy="2082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53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Monitor procurement spending</a:t>
              </a:r>
            </a:p>
            <a:p>
              <a:pPr algn="l">
                <a:lnSpc>
                  <a:spcPts val="2069"/>
                </a:lnSpc>
              </a:pPr>
              <a:r>
                <a:rPr lang="en-US" sz="153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Evaluate delivery and quality performance</a:t>
              </a:r>
            </a:p>
            <a:p>
              <a:pPr algn="l">
                <a:lnSpc>
                  <a:spcPts val="2069"/>
                </a:lnSpc>
              </a:pPr>
              <a:r>
                <a:rPr lang="en-US" sz="153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Analyze delays and defects</a:t>
              </a:r>
            </a:p>
            <a:p>
              <a:pPr algn="l">
                <a:lnSpc>
                  <a:spcPts val="2069"/>
                </a:lnSpc>
              </a:pPr>
              <a:r>
                <a:rPr lang="en-US" sz="153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Compare supplier order volumes</a:t>
              </a:r>
            </a:p>
            <a:p>
              <a:pPr algn="l">
                <a:lnSpc>
                  <a:spcPts val="2069"/>
                </a:lnSpc>
              </a:pPr>
              <a:r>
                <a:rPr lang="en-US" sz="1532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freight cost by transport mode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19150" y="1942689"/>
            <a:ext cx="12117629" cy="7154747"/>
          </a:xfrm>
          <a:custGeom>
            <a:avLst/>
            <a:gdLst/>
            <a:ahLst/>
            <a:cxnLst/>
            <a:rect r="r" b="b" t="t" l="l"/>
            <a:pathLst>
              <a:path h="7154747" w="12117629">
                <a:moveTo>
                  <a:pt x="0" y="0"/>
                </a:moveTo>
                <a:lnTo>
                  <a:pt x="12117629" y="0"/>
                </a:lnTo>
                <a:lnTo>
                  <a:pt x="12117629" y="7154747"/>
                </a:lnTo>
                <a:lnTo>
                  <a:pt x="0" y="7154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POWER BI REPORT  •  INTERACTIVE ANALYTICS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Report 04 — Inventory &amp; Warehouse Analysis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249243" y="1952625"/>
            <a:ext cx="4219607" cy="7146108"/>
            <a:chOff x="0" y="0"/>
            <a:chExt cx="5626142" cy="952814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626142" cy="9528144"/>
              <a:chOff x="0" y="0"/>
              <a:chExt cx="5511800" cy="9334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11800" cy="9334500"/>
              </a:xfrm>
              <a:custGeom>
                <a:avLst/>
                <a:gdLst/>
                <a:ahLst/>
                <a:cxnLst/>
                <a:rect r="r" b="b" t="t" l="l"/>
                <a:pathLst>
                  <a:path h="9334500" w="5511800">
                    <a:moveTo>
                      <a:pt x="0" y="0"/>
                    </a:moveTo>
                    <a:lnTo>
                      <a:pt x="5511800" y="0"/>
                    </a:lnTo>
                    <a:lnTo>
                      <a:pt x="5511800" y="9334500"/>
                    </a:lnTo>
                    <a:lnTo>
                      <a:pt x="0" y="9334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511800" cy="937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88904" y="230694"/>
              <a:ext cx="5055750" cy="305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9"/>
                </a:lnSpc>
              </a:pPr>
              <a:r>
                <a:rPr lang="en-US" sz="1378" spc="11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REPORT PURPOSE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8904" y="888392"/>
              <a:ext cx="5055750" cy="1730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7"/>
                </a:lnSpc>
              </a:pPr>
              <a:r>
                <a:rPr lang="en-US" sz="1531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Monitor stock and safety stock</a:t>
              </a:r>
            </a:p>
            <a:p>
              <a:pPr algn="l">
                <a:lnSpc>
                  <a:spcPts val="2067"/>
                </a:lnSpc>
              </a:pPr>
              <a:r>
                <a:rPr lang="en-US" sz="1531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Identify products below reorder level</a:t>
              </a:r>
            </a:p>
            <a:p>
              <a:pPr algn="l">
                <a:lnSpc>
                  <a:spcPts val="2067"/>
                </a:lnSpc>
              </a:pPr>
              <a:r>
                <a:rPr lang="en-US" sz="1531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Evaluate warehouse capacity utilization</a:t>
              </a:r>
            </a:p>
            <a:p>
              <a:pPr algn="l">
                <a:lnSpc>
                  <a:spcPts val="2067"/>
                </a:lnSpc>
              </a:pPr>
              <a:r>
                <a:rPr lang="en-US" sz="1531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Analyze stock distribution and value</a:t>
              </a:r>
            </a:p>
            <a:p>
              <a:pPr algn="l">
                <a:lnSpc>
                  <a:spcPts val="2067"/>
                </a:lnSpc>
              </a:pPr>
              <a:r>
                <a:rPr lang="en-US" sz="1531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Identify potential inventory risks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19150" y="1952625"/>
            <a:ext cx="12124938" cy="7210630"/>
          </a:xfrm>
          <a:custGeom>
            <a:avLst/>
            <a:gdLst/>
            <a:ahLst/>
            <a:cxnLst/>
            <a:rect r="r" b="b" t="t" l="l"/>
            <a:pathLst>
              <a:path h="7210630" w="12124938">
                <a:moveTo>
                  <a:pt x="0" y="0"/>
                </a:moveTo>
                <a:lnTo>
                  <a:pt x="12124938" y="0"/>
                </a:lnTo>
                <a:lnTo>
                  <a:pt x="12124938" y="7210630"/>
                </a:lnTo>
                <a:lnTo>
                  <a:pt x="0" y="7210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POWER BI REPORT  •  INTERACTIVE ANALYTICS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Report 05 — ABC-XYZ Inventory Strategy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339340" y="1952625"/>
            <a:ext cx="4129510" cy="7176347"/>
            <a:chOff x="0" y="0"/>
            <a:chExt cx="5506013" cy="956846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506013" cy="9568463"/>
              <a:chOff x="0" y="0"/>
              <a:chExt cx="5371383" cy="9334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371383" cy="9334500"/>
              </a:xfrm>
              <a:custGeom>
                <a:avLst/>
                <a:gdLst/>
                <a:ahLst/>
                <a:cxnLst/>
                <a:rect r="r" b="b" t="t" l="l"/>
                <a:pathLst>
                  <a:path h="9334500" w="5371383">
                    <a:moveTo>
                      <a:pt x="0" y="0"/>
                    </a:moveTo>
                    <a:lnTo>
                      <a:pt x="5371383" y="0"/>
                    </a:lnTo>
                    <a:lnTo>
                      <a:pt x="5371383" y="9334500"/>
                    </a:lnTo>
                    <a:lnTo>
                      <a:pt x="0" y="9334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371383" cy="937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80600" y="231791"/>
              <a:ext cx="4947800" cy="307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7"/>
                </a:lnSpc>
              </a:pPr>
              <a:r>
                <a:rPr lang="en-US" sz="1383" spc="110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REPORT PURPOSE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0600" y="892232"/>
              <a:ext cx="4947800" cy="2088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5"/>
                </a:lnSpc>
              </a:pPr>
              <a:r>
                <a:rPr lang="en-US" sz="1537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Classify value and demand variability</a:t>
              </a:r>
            </a:p>
            <a:p>
              <a:pPr algn="l">
                <a:lnSpc>
                  <a:spcPts val="2075"/>
                </a:lnSpc>
              </a:pPr>
              <a:r>
                <a:rPr lang="en-US" sz="1537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Identify critical product segments</a:t>
              </a:r>
            </a:p>
            <a:p>
              <a:pPr algn="l">
                <a:lnSpc>
                  <a:spcPts val="2075"/>
                </a:lnSpc>
              </a:pPr>
              <a:r>
                <a:rPr lang="en-US" sz="1537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Compare quantities across segments</a:t>
              </a:r>
            </a:p>
            <a:p>
              <a:pPr algn="l">
                <a:lnSpc>
                  <a:spcPts val="2075"/>
                </a:lnSpc>
              </a:pPr>
              <a:r>
                <a:rPr lang="en-US" sz="1537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Evaluate demand variability</a:t>
              </a:r>
            </a:p>
            <a:p>
              <a:pPr algn="l">
                <a:lnSpc>
                  <a:spcPts val="2075"/>
                </a:lnSpc>
              </a:pPr>
              <a:r>
                <a:rPr lang="en-US" sz="1537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Translate segments into control strategies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19150" y="1952625"/>
            <a:ext cx="12241893" cy="7244097"/>
          </a:xfrm>
          <a:custGeom>
            <a:avLst/>
            <a:gdLst/>
            <a:ahLst/>
            <a:cxnLst/>
            <a:rect r="r" b="b" t="t" l="l"/>
            <a:pathLst>
              <a:path h="7244097" w="12241893">
                <a:moveTo>
                  <a:pt x="0" y="0"/>
                </a:moveTo>
                <a:lnTo>
                  <a:pt x="12241893" y="0"/>
                </a:lnTo>
                <a:lnTo>
                  <a:pt x="12241893" y="7244097"/>
                </a:lnTo>
                <a:lnTo>
                  <a:pt x="0" y="7244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Key Findings → Business Actions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14 /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9150" y="2095500"/>
            <a:ext cx="6667500" cy="952500"/>
            <a:chOff x="0" y="0"/>
            <a:chExt cx="8890000" cy="1270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890000" cy="1270000"/>
              <a:chOff x="0" y="0"/>
              <a:chExt cx="8890000" cy="127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89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889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95300" y="327025"/>
              <a:ext cx="7874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Sales and procurement vary over time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7715250" y="2571750"/>
            <a:ext cx="238125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287000" y="2095500"/>
            <a:ext cx="7181850" cy="952500"/>
            <a:chOff x="0" y="0"/>
            <a:chExt cx="9575800" cy="1270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575800" cy="1270000"/>
              <a:chOff x="0" y="0"/>
              <a:chExt cx="9575800" cy="127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5758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75800">
                    <a:moveTo>
                      <a:pt x="0" y="0"/>
                    </a:moveTo>
                    <a:lnTo>
                      <a:pt x="9575800" y="0"/>
                    </a:lnTo>
                    <a:lnTo>
                      <a:pt x="95758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5758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327025"/>
              <a:ext cx="8255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Monitor high-value products closely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9150" y="3476625"/>
            <a:ext cx="6667500" cy="952500"/>
            <a:chOff x="0" y="0"/>
            <a:chExt cx="8890000" cy="1270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890000" cy="1270000"/>
              <a:chOff x="0" y="0"/>
              <a:chExt cx="8890000" cy="127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9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89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95300" y="327025"/>
              <a:ext cx="7874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Supplier delivery and quality performance differs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7715250" y="3952875"/>
            <a:ext cx="238125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0" y="3476625"/>
            <a:ext cx="7181850" cy="952500"/>
            <a:chOff x="0" y="0"/>
            <a:chExt cx="9575800" cy="1270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575800" cy="1270000"/>
              <a:chOff x="0" y="0"/>
              <a:chExt cx="9575800" cy="127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5758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75800">
                    <a:moveTo>
                      <a:pt x="0" y="0"/>
                    </a:moveTo>
                    <a:lnTo>
                      <a:pt x="9575800" y="0"/>
                    </a:lnTo>
                    <a:lnTo>
                      <a:pt x="95758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95758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08000" y="327025"/>
              <a:ext cx="8255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Escalate delayed / low-performing suppliers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9150" y="4857750"/>
            <a:ext cx="6667500" cy="952500"/>
            <a:chOff x="0" y="0"/>
            <a:chExt cx="8890000" cy="1270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8890000" cy="1270000"/>
              <a:chOff x="0" y="0"/>
              <a:chExt cx="8890000" cy="1270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89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889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95300" y="327025"/>
              <a:ext cx="7874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Warehouse stock levels differ by location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7715250" y="5334000"/>
            <a:ext cx="238125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0287000" y="4857750"/>
            <a:ext cx="7181850" cy="952500"/>
            <a:chOff x="0" y="0"/>
            <a:chExt cx="9575800" cy="1270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9575800" cy="1270000"/>
              <a:chOff x="0" y="0"/>
              <a:chExt cx="9575800" cy="1270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5758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75800">
                    <a:moveTo>
                      <a:pt x="0" y="0"/>
                    </a:moveTo>
                    <a:lnTo>
                      <a:pt x="9575800" y="0"/>
                    </a:lnTo>
                    <a:lnTo>
                      <a:pt x="95758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5758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508000" y="327025"/>
              <a:ext cx="8255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Rebalance warehouse capacity and stock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19150" y="6238875"/>
            <a:ext cx="6667500" cy="952500"/>
            <a:chOff x="0" y="0"/>
            <a:chExt cx="8890000" cy="1270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8890000" cy="1270000"/>
              <a:chOff x="0" y="0"/>
              <a:chExt cx="8890000" cy="12700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89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889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495300" y="327025"/>
              <a:ext cx="7874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Some products need closer reorder monitoring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7715250" y="6715125"/>
            <a:ext cx="238125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0287000" y="6238875"/>
            <a:ext cx="7181850" cy="952500"/>
            <a:chOff x="0" y="0"/>
            <a:chExt cx="9575800" cy="12700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9575800" cy="1270000"/>
              <a:chOff x="0" y="0"/>
              <a:chExt cx="9575800" cy="12700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95758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75800">
                    <a:moveTo>
                      <a:pt x="0" y="0"/>
                    </a:moveTo>
                    <a:lnTo>
                      <a:pt x="9575800" y="0"/>
                    </a:lnTo>
                    <a:lnTo>
                      <a:pt x="95758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95758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508000" y="327025"/>
              <a:ext cx="8255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Maintain safety stock for critical products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19150" y="7620000"/>
            <a:ext cx="6667500" cy="952500"/>
            <a:chOff x="0" y="0"/>
            <a:chExt cx="8890000" cy="12700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8890000" cy="1270000"/>
              <a:chOff x="0" y="0"/>
              <a:chExt cx="8890000" cy="12700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89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889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495300" y="327025"/>
              <a:ext cx="7874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ABC value and XYZ predictability vary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>
            <a:off x="7715250" y="8096250"/>
            <a:ext cx="2381250" cy="0"/>
          </a:xfrm>
          <a:prstGeom prst="line">
            <a:avLst/>
          </a:prstGeom>
          <a:ln cap="rnd" w="3810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10287000" y="7620000"/>
            <a:ext cx="7181850" cy="952500"/>
            <a:chOff x="0" y="0"/>
            <a:chExt cx="9575800" cy="1270000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9575800" cy="1270000"/>
              <a:chOff x="0" y="0"/>
              <a:chExt cx="9575800" cy="12700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95758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75800">
                    <a:moveTo>
                      <a:pt x="0" y="0"/>
                    </a:moveTo>
                    <a:lnTo>
                      <a:pt x="9575800" y="0"/>
                    </a:lnTo>
                    <a:lnTo>
                      <a:pt x="95758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95758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508000" y="327025"/>
              <a:ext cx="8255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5F9FF"/>
                  </a:solidFill>
                  <a:latin typeface="Open Sans"/>
                  <a:ea typeface="Open Sans"/>
                  <a:cs typeface="Open Sans"/>
                  <a:sym typeface="Open Sans"/>
                </a:rPr>
                <a:t>Differentiate replenishment; reduce excess inventory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457200"/>
            <a:ext cx="16649700" cy="1052512"/>
            <a:chOff x="0" y="0"/>
            <a:chExt cx="22199600" cy="14033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2D3EE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SUPPLY CHAIN ANALYTICS  •  CAPSTONE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0850"/>
              <a:ext cx="19050000" cy="620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8"/>
                </a:lnSpc>
              </a:pPr>
              <a:r>
                <a:rPr lang="en-US" sz="31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Data to Inventory Strategy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2199600" cy="0"/>
            </a:xfrm>
            <a:prstGeom prst="line">
              <a:avLst/>
            </a:prstGeom>
            <a:ln cap="flat" w="12700">
              <a:solidFill>
                <a:srgbClr val="24476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230600" y="9734550"/>
            <a:ext cx="12382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4"/>
              </a:lnSpc>
            </a:pPr>
            <a:r>
              <a:rPr lang="en-US" sz="1275">
                <a:solidFill>
                  <a:srgbClr val="A9BAD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 / 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9150" y="1857375"/>
            <a:ext cx="7810500" cy="4333875"/>
            <a:chOff x="0" y="0"/>
            <a:chExt cx="10414000" cy="57785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414000" cy="5778500"/>
              <a:chOff x="0" y="0"/>
              <a:chExt cx="10414000" cy="5778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414000" cy="5778500"/>
              </a:xfrm>
              <a:custGeom>
                <a:avLst/>
                <a:gdLst/>
                <a:ahLst/>
                <a:cxnLst/>
                <a:rect r="r" b="b" t="t" l="l"/>
                <a:pathLst>
                  <a:path h="5778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5778500"/>
                    </a:lnTo>
                    <a:lnTo>
                      <a:pt x="0" y="5778500"/>
                    </a:lnTo>
                    <a:close/>
                  </a:path>
                </a:pathLst>
              </a:custGeom>
              <a:solidFill>
                <a:srgbClr val="0D2139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414000" cy="581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95300" y="317500"/>
              <a:ext cx="8255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DELIVERED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95300" y="1187450"/>
              <a:ext cx="8255000" cy="2038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Relational MySQL database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Cleaned &amp; validated dataset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SQL business analysis + analytical views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ABC-XYZ product classification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Power BI model + 5 interactive reports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Inventory strategy recommendations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29750" y="1857375"/>
            <a:ext cx="8039100" cy="4333875"/>
            <a:chOff x="0" y="0"/>
            <a:chExt cx="10718800" cy="5778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718800" cy="5778500"/>
              <a:chOff x="0" y="0"/>
              <a:chExt cx="10718800" cy="5778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718800" cy="5778500"/>
              </a:xfrm>
              <a:custGeom>
                <a:avLst/>
                <a:gdLst/>
                <a:ahLst/>
                <a:cxnLst/>
                <a:rect r="r" b="b" t="t" l="l"/>
                <a:pathLst>
                  <a:path h="5778500" w="10718800">
                    <a:moveTo>
                      <a:pt x="0" y="0"/>
                    </a:moveTo>
                    <a:lnTo>
                      <a:pt x="10718800" y="0"/>
                    </a:lnTo>
                    <a:lnTo>
                      <a:pt x="10718800" y="5778500"/>
                    </a:lnTo>
                    <a:lnTo>
                      <a:pt x="0" y="5778500"/>
                    </a:lnTo>
                    <a:close/>
                  </a:path>
                </a:pathLst>
              </a:custGeom>
              <a:solidFill>
                <a:srgbClr val="102642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718800" cy="581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651000" y="317500"/>
              <a:ext cx="7239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BDC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FUTURE SCOPE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651000" y="1187450"/>
              <a:ext cx="7239000" cy="2038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Demand forecasting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Stockout prediction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Automated reorder recommendations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Supplier risk scoring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Delivery delay prediction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A9BAD0"/>
                  </a:solidFill>
                  <a:latin typeface="Open Sans"/>
                  <a:ea typeface="Open Sans"/>
                  <a:cs typeface="Open Sans"/>
                  <a:sym typeface="Open Sans"/>
                </a:rPr>
                <a:t>• What-if inventory analysis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52625" y="6572250"/>
            <a:ext cx="14382750" cy="1381125"/>
            <a:chOff x="0" y="0"/>
            <a:chExt cx="19177000" cy="1841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9177000" cy="1841500"/>
              <a:chOff x="0" y="0"/>
              <a:chExt cx="19177000" cy="1841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17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9177000">
                    <a:moveTo>
                      <a:pt x="0" y="0"/>
                    </a:moveTo>
                    <a:lnTo>
                      <a:pt x="19177000" y="0"/>
                    </a:lnTo>
                    <a:lnTo>
                      <a:pt x="1917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16324F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917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71500" y="307975"/>
              <a:ext cx="18034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62"/>
                </a:lnSpc>
              </a:pPr>
              <a:r>
                <a:rPr lang="en-US" sz="1650" b="true">
                  <a:solidFill>
                    <a:srgbClr val="F5F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Transformed raw supply-chain transactions into actionable insights for performance monitoring and inventory strategy.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286500" y="8743950"/>
            <a:ext cx="5715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050" b="true">
                <a:solidFill>
                  <a:srgbClr val="22D3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DAHUlUjuIrI</dc:identifier>
  <dcterms:modified xsi:type="dcterms:W3CDTF">2011-08-01T06:04:30Z</dcterms:modified>
  <cp:revision>1</cp:revision>
  <dc:title>Author: Nitin Prasad</dc:title>
</cp:coreProperties>
</file>